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13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A8A8">
              <a:alpha val="2000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A8A8">
              <a:alpha val="1500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– Introduction to AI Levels, Agent Factory &amp; AI-Native Companies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Instructors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1097280"/>
            <a:ext cx="822960" cy="82296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3444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Zia Khan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Lead Instructor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Finance, MS Engineering, CPA, CMA – USA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Pakistan in 1999 to create an AI revolution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there's a will, there's a way"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822960" cy="82296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Wania Kazmi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– AI &amp; Agentic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Software Engineering, COMSATS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50 Python programs overnight on Day 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Co-builder of Penversity &amp; the Agent Factory book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86600" y="1097280"/>
            <a:ext cx="822960" cy="82296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Ammar Aamir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– AI Product Development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background, self-taught AI developer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Zia Khan's classes and co-built Penversity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Agentic AI products &amp; AI-native companies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Toward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6984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world-class entrepreneurs &amp; startup founders in AI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globally competitive professionals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Pakistan's reputation in AI innovation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mediocre to star performers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069848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Keys to Success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90472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assigned tasks from your instructors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genuine friendship &amp; trust with mentors and peers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– don't postpone classes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business partners, not just students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Levels of AI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Microwave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40233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decides: frozen meal → 3–5 min; reheated meal → 1 min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decision-making = Natural Intelligence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microwave itself detects temperature and sets time automatically → Artificial Intelligence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software trained on data to make decisions without asking humans each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0D1B40"/>
          </a:solidFill>
          <a:ln w="6350">
            <a:solidFill>
              <a:srgbClr val="00A8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Everyday Life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536192"/>
            <a:ext cx="33832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algorithms (YouTube, shopping)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Autocorrect &amp; spell-check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Claude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502920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9875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or predicts from data. Yes/No outputs.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9875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filters, cat-vs-dog image detection, weather forecasts, Machine Learning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502920" cy="1234440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359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3591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new content: text, images, code, video.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3591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DALL-E, Gemini Omni. Responds in conversation and modifies output on request.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50292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639312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730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&amp; Future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7307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end-to-end goals autonomously.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7307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→ Researches → Builds → Tests → Fixes → Delivers. Uses tools, self-corrects.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AI "Agentic"?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elevate a chatbot to an agent: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685800" cy="685800"/>
          </a:xfrm>
          <a:prstGeom prst="ellipse">
            <a:avLst/>
          </a:prstGeom>
          <a:solidFill>
            <a:srgbClr val="0D1B40"/>
          </a:solidFill>
          <a:ln w="190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0934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44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562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big goal into ordered sub-steps before starting any 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609344"/>
            <a:ext cx="685800" cy="685800"/>
          </a:xfrm>
          <a:prstGeom prst="ellipse">
            <a:avLst/>
          </a:prstGeom>
          <a:solidFill>
            <a:srgbClr val="0D1B40"/>
          </a:solidFill>
          <a:ln w="190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0934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4447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85623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web, reads files, calls APIs to gather real-world info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392424"/>
            <a:ext cx="685800" cy="685800"/>
          </a:xfrm>
          <a:prstGeom prst="ellipse">
            <a:avLst/>
          </a:prstGeom>
          <a:solidFill>
            <a:srgbClr val="0D1B40"/>
          </a:solidFill>
          <a:ln w="190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3924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2278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its own output, identifies failures, fixes them, iterates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44952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3392424"/>
            <a:ext cx="685800" cy="685800"/>
          </a:xfrm>
          <a:prstGeom prst="ellipse">
            <a:avLst/>
          </a:prstGeom>
          <a:solidFill>
            <a:srgbClr val="0D1B40"/>
          </a:solidFill>
          <a:ln w="190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924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32278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Execution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63931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workflow – Plan → Research → Build → Test → Deliver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vs Agentic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one command; AI responds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review &amp; judge quality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tasks (sending, tracking) done manually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"Write me an email" → generic draft delivered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does 90% of total workflow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0D1B40"/>
          </a:solidFill>
          <a:ln w="10160">
            <a:solidFill>
              <a:srgbClr val="00A8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00584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Worker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55648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goal; AI plans and executes fully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emails per customer segment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Sends, tracks responses, and reports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"Launch this product" → landing page built, tested, deployed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only the final output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Worker – Not Just a Tool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AI as a Tool to AI as a Worker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 – Building a Bookshelf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Tool Mode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a drill (the tool) but do all the cutting, measuring, assembling yourself. One-step assist.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960120"/>
            <a:ext cx="0" cy="1097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Worker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72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hire a contractor (the worker). Give requirements → go have coffee. Contractor handles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74320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441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AI Worker Knows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62072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&amp; how to execute 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preferences &amp; writing style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company context and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56432" y="2441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AI Worker Does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62072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goal (not a command)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the full workflow autonomously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finished result, not a draft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27432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743200" cy="5486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244144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 as Owner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862072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goal clearly (10%)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Worker execute (80%)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 the output (10%)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10-80-10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directing a film: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28600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40864"/>
            <a:ext cx="228600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Direction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(Intention &amp; Goals)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325880"/>
            <a:ext cx="228600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40864"/>
            <a:ext cx="228600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 Executes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(Planning, Building, Testing)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325880"/>
            <a:ext cx="2286000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340864"/>
            <a:ext cx="2286000" cy="72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&amp; Approval)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176272"/>
            <a:ext cx="41148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34640" y="19476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06440" y="2176272"/>
            <a:ext cx="41148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19476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274320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40156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Intention (10%)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communicate what outcome you want. The clearer the direction, the better the AI executes.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743200" cy="54864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340156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(80%)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822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 plans, researches, builds, tests, and self-corrects. You don't touch the middle work.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2918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2743200" cy="5486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82512" y="3401568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(10%)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822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result – good or bad. Review carefully before approving. Errors in direction = your responsibility.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Promoted, Not Replaced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2040"/>
          </a:solidFill>
          <a:ln w="1016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Typist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Editor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2040"/>
          </a:solidFill>
          <a:ln w="1016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219456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Architect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00584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62040"/>
          </a:solidFill>
          <a:ln w="1016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219456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Director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takes over the middle 80%. Humans keep what matters most: Direction &amp; Judgment.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Factory &amp; AI-Native Companies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Agent Factory?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a garment factory produces shirts through a repeatable process, the Agent Factory produces AI Workers.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856232"/>
            <a:ext cx="2286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371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0088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856232"/>
            <a:ext cx="2286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928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856232"/>
            <a:ext cx="2286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1371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87768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&amp; Approve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AI Worker's job: what task, what style, what limits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worker your preferences, context, and step-by-step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real-world environment; handle edge cases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14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results, verify quality, iterate and improve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Factory vs AI-Native Company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Agent Factory = the PROCESS by which you design, train, and ship AI Workers.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AI-Native Company = an organization that uses AI Workers to run its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Company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Example  –  200 human agents → 10 humans + 190 AI Workers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0D1B40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You (Human)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goals, final approval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00787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496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Identic AI Delegate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614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twin – coordinates workers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00A8A8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227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Manager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Supervises, hires/fires workers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E8F4F4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959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👷 AI Workers (×190)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2245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specialized tasks 24/7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1887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0D1B40"/>
          </a:solidFill>
          <a:ln w="6350">
            <a:solidFill>
              <a:srgbClr val="00A8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AI-Native Wins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24/7 – no fatigue, no sick days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than human execution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than equivalent headcount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 across every interaction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instantly to demand spikes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freed for high-value judgment work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Golden Rules for Every AI Company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foundations – like load-bearing walls in a building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133502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435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Always in Charge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set goals (first 10%) and verify outputs (last 10%)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" y="229514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Human Gets a Delegate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237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Identic AI twin manages workers at their speed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" y="325526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163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Needs a Management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838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Manager hires/fires workers, allocates compute, monitors health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5079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421538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Worker Uses the Right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compute power to task criticality – don't over- or under-provision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73168" y="133502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12435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Must Have a System of Record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563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need real-time company data to make relevant decisions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13055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73168" y="229514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20370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Grows Under Rules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5237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limits, scope boundaries, and guard-rails for all workers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9067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73168" y="3255264"/>
            <a:ext cx="457200" cy="4572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7316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3163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Runs on a Nervous System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4838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communicate &amp; coordinate autonomously; system self-heals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Modes of Working with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– choose based on frequency and complexity of the task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1 – Problem Solving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One-Time Fix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general AI directly (ChatGPT, Claude, Cowork)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→ one output → done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ad-hoc tasks not repeated daily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Analyze this spreadsheet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start; no setup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0D1B40"/>
          </a:solidFill>
          <a:ln w="10160">
            <a:solidFill>
              <a:srgbClr val="00A8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2 – Manufacturing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Reusable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AI Worker trained for this exact task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→ set up once → run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high-volume, repetitive workflows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Daily slide generator with your style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 time; massive long-term gains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A8A8">
              <a:alpha val="1500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has 3 levels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81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→ Generative → Agentic (where we're heading)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26187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0972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= End-to-End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481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Research → Build → Test → Fix → Deliver – autonomously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58775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4231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Worker, not AI Tool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model: give a goal, get a finished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258775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keep 10% + 10%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8072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verification always stay with the human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391363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7490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Factory = the process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1330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Train → Ship → Monitor AI Workers systematically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3977640" cy="1097280"/>
          </a:xfrm>
          <a:prstGeom prst="roundRect">
            <a:avLst>
              <a:gd name="adj" fmla="val 5833"/>
            </a:avLst>
          </a:prstGeom>
          <a:solidFill>
            <a:srgbClr val="162040"/>
          </a:solidFill>
          <a:ln w="635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92040" y="3913632"/>
            <a:ext cx="502920" cy="5029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7490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= the destination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1330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run on AI Workers supervised by a small human team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Class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69848"/>
            <a:ext cx="4700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Reading Assignment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46634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Agent Factory Book thesis (link shared in WhatsApp group)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"Plain English" version if you are a beginner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readers: read the Professional version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book is the core reference for the entire course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200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42432" y="106984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 Practice Exercise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49047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5-step E-Commerce Mart example from today's slides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it in YOUR own domain/industry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version in the WhatsApp Discussion 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288036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2880360"/>
            <a:ext cx="3200400" cy="54864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42432" y="2990088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Reflect 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3410712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in your daily work could an AI Worker handle?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Mode 1 (ad-hoc) fit? Mode 2 (manufacturing)?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thoughts in the discussion group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A8A8">
              <a:alpha val="1500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A8A8">
              <a:alpha val="2000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 of the mediocre is over.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a star.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Zia Khan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AI Prompting &amp; Tool Setup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Office PowerPoint</Application>
  <PresentationFormat>On-screen Show (16:9)</PresentationFormat>
  <Paragraphs>275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Lecture 1</dc:title>
  <dc:subject>PptxGenJS Presentation</dc:subject>
  <dc:creator>PptxGenJS</dc:creator>
  <cp:lastModifiedBy>Ayesha Ahad</cp:lastModifiedBy>
  <cp:revision>1</cp:revision>
  <dcterms:created xsi:type="dcterms:W3CDTF">2026-06-10T09:51:09Z</dcterms:created>
  <dcterms:modified xsi:type="dcterms:W3CDTF">2026-06-10T10:07:45Z</dcterms:modified>
</cp:coreProperties>
</file>